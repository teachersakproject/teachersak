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3"/>
    <p:sldId id="258" r:id="rId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9489881-570B-4D69-BBC3-A22426C1810C}"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D4332-ECB4-4C90-B0B9-A95549A0A038}" type="slidenum">
              <a:rPr lang="en-US" smtClean="0"/>
              <a:t>‹#›</a:t>
            </a:fld>
            <a:endParaRPr lang="en-US"/>
          </a:p>
        </p:txBody>
      </p:sp>
    </p:spTree>
    <p:extLst>
      <p:ext uri="{BB962C8B-B14F-4D97-AF65-F5344CB8AC3E}">
        <p14:creationId xmlns:p14="http://schemas.microsoft.com/office/powerpoint/2010/main" val="12937386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17650300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27473104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16282598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406D9E7-226B-4A8A-8491-15DACB52DF6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38205992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406D9E7-226B-4A8A-8491-15DACB52DF68}"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35272217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406D9E7-226B-4A8A-8491-15DACB52DF68}" type="datetimeFigureOut">
              <a:rPr lang="en-US" smtClean="0"/>
              <a:t>10/21/2026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21131535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06D9E7-226B-4A8A-8491-15DACB52DF68}" type="datetimeFigureOut">
              <a:rPr lang="en-US" smtClean="0"/>
              <a:t>10/21/2026</a:t>
            </a:fld>
            <a:endParaRPr lang="en-US"/>
          </a:p>
        </p:txBody>
      </p:sp>
      <p:sp>
        <p:nvSpPr>
          <p:cNvPr id="3" name="Footer Placeholder 2"/>
          <p:cNvSpPr>
            <a:spLocks noGrp="1"/>
          </p:cNvSpPr>
          <p:nvPr>
            <p:ph type="ftr" sz="quarter" idx="11"/>
          </p:nvPr>
        </p:nvSpPr>
        <p:spPr/>
        <p:txBody>
          <a:bodyPr/>
          <a:lstStyle/>
          <a:p>
            <a:endParaRPr lang="en-US"/>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19509927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06D9E7-226B-4A8A-8491-15DACB52DF6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29358853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06D9E7-226B-4A8A-8491-15DACB52DF6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35188487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406D9E7-226B-4A8A-8491-15DACB52DF68}" type="datetimeFigureOut">
              <a:rPr lang="en-US" smtClean="0"/>
              <a:t>10/21/2026</a:t>
            </a:fld>
            <a:endParaRPr lang="en-US"/>
          </a:p>
        </p:txBody>
      </p:sp>
      <p:sp>
        <p:nvSpPr>
          <p:cNvPr id="6" name="Footer Placeholder 5"/>
          <p:cNvSpPr>
            <a:spLocks noGrp="1"/>
          </p:cNvSpPr>
          <p:nvPr>
            <p:ph type="ftr" sz="quarter" idx="11"/>
          </p:nvPr>
        </p:nvSpPr>
        <p:spPr/>
        <p:txBody>
          <a:bodyPr/>
          <a:lstStyle/>
          <a:p>
            <a:endParaRPr lang="en-US"/>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1973518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36100693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32943925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247277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406D9E7-226B-4A8A-8491-15DACB52DF68}" type="datetimeFigureOut">
              <a:rPr lang="en-US" smtClean="0"/>
              <a:t>10/21/2026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3374507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0406D9E7-226B-4A8A-8491-15DACB52DF68}" type="datetimeFigureOut">
              <a:rPr lang="en-US" smtClean="0"/>
              <a:t>10/21/2026</a:t>
            </a:fld>
            <a:endParaRPr lang="en-US"/>
          </a:p>
        </p:txBody>
      </p:sp>
      <p:sp>
        <p:nvSpPr>
          <p:cNvPr id="8" name="Footer Placeholder 7"/>
          <p:cNvSpPr>
            <a:spLocks noGrp="1"/>
          </p:cNvSpPr>
          <p:nvPr>
            <p:ph type="ftr" sz="quarter" idx="11"/>
          </p:nvPr>
        </p:nvSpPr>
        <p:spPr>
          <a:xfrm>
            <a:off x="561111" y="6391838"/>
            <a:ext cx="3644282" cy="304801"/>
          </a:xfrm>
        </p:spPr>
        <p:txBody>
          <a:bodyPr/>
          <a:lstStyle/>
          <a:p>
            <a:endParaRPr lang="en-US"/>
          </a:p>
        </p:txBody>
      </p:sp>
      <p:sp>
        <p:nvSpPr>
          <p:cNvPr id="9" name="Slide Number Placeholder 8"/>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409795976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22439020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0406D9E7-226B-4A8A-8491-15DACB52DF68}" type="datetimeFigureOut">
              <a:rPr lang="en-US" smtClean="0"/>
              <a:t>10/21/2026</a:t>
            </a:fld>
            <a:endParaRPr lang="en-US"/>
          </a:p>
        </p:txBody>
      </p:sp>
      <p:sp>
        <p:nvSpPr>
          <p:cNvPr id="5" name="Footer Placeholder 4"/>
          <p:cNvSpPr>
            <a:spLocks noGrp="1"/>
          </p:cNvSpPr>
          <p:nvPr>
            <p:ph type="ftr" sz="quarter" idx="11"/>
          </p:nvPr>
        </p:nvSpPr>
        <p:spPr/>
        <p:txBody>
          <a:bodyPr/>
          <a:lstStyle/>
          <a:p>
            <a:endParaRPr lang="en-US"/>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A094654D-35E3-45FD-A8E1-CD82BBC9D719}" type="slidenum">
              <a:rPr lang="en-US" smtClean="0"/>
              <a:t>‹#›</a:t>
            </a:fld>
            <a:endParaRPr lang="en-US"/>
          </a:p>
        </p:txBody>
      </p:sp>
    </p:spTree>
    <p:extLst>
      <p:ext uri="{BB962C8B-B14F-4D97-AF65-F5344CB8AC3E}">
        <p14:creationId xmlns:p14="http://schemas.microsoft.com/office/powerpoint/2010/main" val="21927941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0406D9E7-226B-4A8A-8491-15DACB52DF68}" type="datetimeFigureOut">
              <a:rPr lang="en-US" smtClean="0"/>
              <a:t>10/21/2026</a:t>
            </a:fld>
            <a:endParaRPr lang="en-US"/>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A094654D-35E3-45FD-A8E1-CD82BBC9D719}" type="slidenum">
              <a:rPr lang="en-US" smtClean="0"/>
              <a:t>‹#›</a:t>
            </a:fld>
            <a:endParaRPr lang="en-US"/>
          </a:p>
        </p:txBody>
      </p:sp>
    </p:spTree>
    <p:extLst>
      <p:ext uri="{BB962C8B-B14F-4D97-AF65-F5344CB8AC3E}">
        <p14:creationId xmlns:p14="http://schemas.microsoft.com/office/powerpoint/2010/main" val="160166612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slideLayout" Target="../slideLayouts/slideLayout1.xml"/><Relationship Id="rId1" Type="http://schemas.openxmlformats.org/officeDocument/2006/relationships/video" Target="https://www.youtube.com/embed/SrSHMCZQm8c?feature=oembed"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4FCAFD-8941-6874-C3AF-5036B5938A43}"/>
              </a:ext>
            </a:extLst>
          </p:cNvPr>
          <p:cNvSpPr>
            <a:spLocks noGrp="1"/>
          </p:cNvSpPr>
          <p:nvPr>
            <p:ph type="ctrTitle"/>
          </p:nvPr>
        </p:nvSpPr>
        <p:spPr>
          <a:xfrm>
            <a:off x="509047" y="499620"/>
            <a:ext cx="9037162" cy="700775"/>
          </a:xfrm>
        </p:spPr>
        <p:txBody>
          <a:bodyPr/>
          <a:lstStyle/>
          <a:p>
            <a:r>
              <a:rPr lang="en-US" u="sng" dirty="0">
                <a:solidFill>
                  <a:srgbClr val="FF0000"/>
                </a:solidFill>
                <a:latin typeface="Gill Sans MT" panose="020B0502020104020203" pitchFamily="34" charset="0"/>
              </a:rPr>
              <a:t>MS Access</a:t>
            </a:r>
          </a:p>
        </p:txBody>
      </p:sp>
      <p:sp>
        <p:nvSpPr>
          <p:cNvPr id="6" name="TextBox 5">
            <a:extLst>
              <a:ext uri="{FF2B5EF4-FFF2-40B4-BE49-F238E27FC236}">
                <a16:creationId xmlns:a16="http://schemas.microsoft.com/office/drawing/2014/main" id="{A45DF7CD-AF4F-C432-F870-633C3D7DFCCE}"/>
              </a:ext>
            </a:extLst>
          </p:cNvPr>
          <p:cNvSpPr txBox="1"/>
          <p:nvPr/>
        </p:nvSpPr>
        <p:spPr>
          <a:xfrm>
            <a:off x="509047" y="1200395"/>
            <a:ext cx="10030120" cy="646331"/>
          </a:xfrm>
          <a:prstGeom prst="rect">
            <a:avLst/>
          </a:prstGeom>
          <a:noFill/>
        </p:spPr>
        <p:txBody>
          <a:bodyPr wrap="square" rtlCol="0">
            <a:spAutoFit/>
          </a:bodyPr>
          <a:lstStyle/>
          <a:p>
            <a:r>
              <a:rPr lang="en-US" dirty="0">
                <a:solidFill>
                  <a:schemeClr val="bg1"/>
                </a:solidFill>
              </a:rPr>
              <a:t>Watch this video first to learn about MS Access and then do the exercise on the next slide.</a:t>
            </a:r>
          </a:p>
        </p:txBody>
      </p:sp>
      <p:pic>
        <p:nvPicPr>
          <p:cNvPr id="7" name="Online Media 6" title="Creating Tables and Fields in Microsoft Access">
            <a:hlinkClick r:id="" action="ppaction://media"/>
            <a:extLst>
              <a:ext uri="{FF2B5EF4-FFF2-40B4-BE49-F238E27FC236}">
                <a16:creationId xmlns:a16="http://schemas.microsoft.com/office/drawing/2014/main" id="{B68A2880-99CB-81AB-D4D0-3B4C75ADAF5A}"/>
              </a:ext>
            </a:extLst>
          </p:cNvPr>
          <p:cNvPicPr>
            <a:picLocks noRot="1" noChangeAspect="1"/>
          </p:cNvPicPr>
          <p:nvPr>
            <a:videoFile r:link="rId1"/>
          </p:nvPr>
        </p:nvPicPr>
        <p:blipFill>
          <a:blip r:embed="rId3"/>
          <a:stretch>
            <a:fillRect/>
          </a:stretch>
        </p:blipFill>
        <p:spPr>
          <a:xfrm>
            <a:off x="2516957" y="1551615"/>
            <a:ext cx="9399180" cy="5306385"/>
          </a:xfrm>
          <a:prstGeom prst="rect">
            <a:avLst/>
          </a:prstGeom>
        </p:spPr>
      </p:pic>
    </p:spTree>
    <p:extLst>
      <p:ext uri="{BB962C8B-B14F-4D97-AF65-F5344CB8AC3E}">
        <p14:creationId xmlns:p14="http://schemas.microsoft.com/office/powerpoint/2010/main" val="21302239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7"/>
                </p:tgtEl>
              </p:cMediaNode>
            </p:video>
            <p:seq concurrent="1" nextAc="seek">
              <p:cTn id="8" restart="whenNotActive" fill="hold" evtFilter="cancelBubble" nodeType="interactiveSeq">
                <p:stCondLst>
                  <p:cond evt="onClick" delay="0">
                    <p:tgtEl>
                      <p:spTgt spid="7"/>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7"/>
                                        </p:tgtEl>
                                      </p:cBhvr>
                                    </p:cmd>
                                  </p:childTnLst>
                                </p:cTn>
                              </p:par>
                            </p:childTnLst>
                          </p:cTn>
                        </p:par>
                      </p:childTnLst>
                    </p:cTn>
                  </p:par>
                </p:childTnLst>
              </p:cTn>
              <p:nextCondLst>
                <p:cond evt="onClick" delay="0">
                  <p:tgtEl>
                    <p:spTgt spid="7"/>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7BCBF7D8-7F9D-7E6A-E597-6A8598481E38}"/>
              </a:ext>
            </a:extLst>
          </p:cNvPr>
          <p:cNvSpPr/>
          <p:nvPr/>
        </p:nvSpPr>
        <p:spPr>
          <a:xfrm>
            <a:off x="157502" y="0"/>
            <a:ext cx="11710843" cy="7078861"/>
          </a:xfrm>
          <a:prstGeom prst="rect">
            <a:avLst/>
          </a:prstGeom>
          <a:noFill/>
        </p:spPr>
        <p:txBody>
          <a:bodyPr wrap="square" lIns="91440" tIns="45720" rIns="91440" bIns="45720">
            <a:spAutoFit/>
          </a:bodyPr>
          <a:lstStyle/>
          <a:p>
            <a:r>
              <a:rPr lang="en-US" sz="3200" dirty="0">
                <a:solidFill>
                  <a:schemeClr val="tx2"/>
                </a:solidFill>
              </a:rPr>
              <a:t>Step-by-Step: Creating a Table Using Design View</a:t>
            </a:r>
          </a:p>
          <a:p>
            <a:r>
              <a:rPr lang="en-US" sz="2200" dirty="0"/>
              <a:t>Follow these steps to create a table with full control over structure.</a:t>
            </a:r>
          </a:p>
          <a:p>
            <a:r>
              <a:rPr lang="en-US" sz="2200" b="1" dirty="0"/>
              <a:t>Step 1 – Open Microsoft Access: </a:t>
            </a:r>
            <a:r>
              <a:rPr lang="en-US" sz="2200" dirty="0"/>
              <a:t>Create a new blank database (File → New → Blank database) or open an existing .</a:t>
            </a:r>
            <a:r>
              <a:rPr lang="en-US" sz="2200" dirty="0" err="1"/>
              <a:t>accdb</a:t>
            </a:r>
            <a:r>
              <a:rPr lang="en-US" sz="2200" dirty="0"/>
              <a:t> file.</a:t>
            </a:r>
          </a:p>
          <a:p>
            <a:r>
              <a:rPr lang="en-US" sz="2200" b="1" dirty="0"/>
              <a:t>Step 2 – Go to Create tab: </a:t>
            </a:r>
            <a:r>
              <a:rPr lang="en-US" sz="2200" dirty="0"/>
              <a:t>On the ribbon, click the Create tab.</a:t>
            </a:r>
          </a:p>
          <a:p>
            <a:r>
              <a:rPr lang="en-US" sz="2200" b="1" dirty="0"/>
              <a:t>Step 3 – Select Table Design: </a:t>
            </a:r>
            <a:r>
              <a:rPr lang="en-US" sz="2200" dirty="0"/>
              <a:t>In the Tables group, click Table Design. Do not choose Table (Datasheet); Table Design opens the design grid.</a:t>
            </a:r>
          </a:p>
          <a:p>
            <a:r>
              <a:rPr lang="en-US" sz="2200" b="1" dirty="0"/>
              <a:t>Step 4 – Define fields: </a:t>
            </a:r>
            <a:r>
              <a:rPr lang="en-US" sz="2200" dirty="0"/>
              <a:t>In the first row, type a field name (e.g. CustomerID) in the Field Name column. Move to Data Type and choose the type (e.g. AutoNumber for an ID). Add more rows for each field (FirstName, LastName, Email, </a:t>
            </a:r>
            <a:r>
              <a:rPr lang="en-US" sz="2200" dirty="0" err="1"/>
              <a:t>CreatedDate</a:t>
            </a:r>
            <a:r>
              <a:rPr lang="en-US" sz="2200" dirty="0"/>
              <a:t>).</a:t>
            </a:r>
          </a:p>
          <a:p>
            <a:r>
              <a:rPr lang="en-US" sz="2200" b="1" dirty="0"/>
              <a:t>Step 5 – Choose data types: </a:t>
            </a:r>
            <a:r>
              <a:rPr lang="en-US" sz="2200" dirty="0"/>
              <a:t>For each field, pick the correct type: Short Text for names and email, Number for quantities, Date/Time for dates, Currency for money. Set Field Size for Short Text (e.g. 50 or 100) in the General properties below.</a:t>
            </a:r>
          </a:p>
          <a:p>
            <a:r>
              <a:rPr lang="en-US" sz="2200" b="1" dirty="0"/>
              <a:t>Step 6 – Set primary key: </a:t>
            </a:r>
            <a:r>
              <a:rPr lang="en-US" sz="2200" dirty="0"/>
              <a:t>Click the row selector for the field that will uniquely identify each record (e.g. CustomerID). Right-click → Primary Key, or click the Primary Key button on the ribbon. A key icon appears next to that field. (In SQL, this is the equivalent of declaring an AUTOINCREMENT PRIMARY KEY.)</a:t>
            </a:r>
          </a:p>
          <a:p>
            <a:r>
              <a:rPr lang="en-US" sz="2200" b="1" dirty="0"/>
              <a:t>Step 7 – Save the table: </a:t>
            </a:r>
            <a:r>
              <a:rPr lang="en-US" sz="2200" dirty="0"/>
              <a:t>Press </a:t>
            </a:r>
            <a:r>
              <a:rPr lang="en-US" sz="2200" dirty="0" err="1"/>
              <a:t>Ctrl+S</a:t>
            </a:r>
            <a:r>
              <a:rPr lang="en-US" sz="2200" dirty="0"/>
              <a:t> (or File → Save). Enter a table name (e.g. Customers) with no spaces. Click OK. The table is now in the Navigation Pane.</a:t>
            </a:r>
          </a:p>
          <a:p>
            <a:pPr algn="ctr"/>
            <a:endParaRPr lang="en-US" sz="2200" b="0" cap="none" spc="0" dirty="0">
              <a:ln w="0"/>
              <a:solidFill>
                <a:schemeClr val="tx1"/>
              </a:solidFill>
              <a:effectLst>
                <a:outerShdw blurRad="38100" dist="19050" dir="2700000" algn="tl" rotWithShape="0">
                  <a:schemeClr val="dk1">
                    <a:alpha val="40000"/>
                  </a:schemeClr>
                </a:outerShdw>
              </a:effectLst>
            </a:endParaRPr>
          </a:p>
        </p:txBody>
      </p:sp>
    </p:spTree>
    <p:extLst>
      <p:ext uri="{BB962C8B-B14F-4D97-AF65-F5344CB8AC3E}">
        <p14:creationId xmlns:p14="http://schemas.microsoft.com/office/powerpoint/2010/main" val="12824344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49A0A-467E-28FD-800D-4E2A8B11D338}"/>
              </a:ext>
            </a:extLst>
          </p:cNvPr>
          <p:cNvSpPr>
            <a:spLocks noGrp="1"/>
          </p:cNvSpPr>
          <p:nvPr>
            <p:ph type="title"/>
          </p:nvPr>
        </p:nvSpPr>
        <p:spPr>
          <a:xfrm>
            <a:off x="0" y="2224726"/>
            <a:ext cx="12192000" cy="4562574"/>
          </a:xfrm>
        </p:spPr>
        <p:txBody>
          <a:bodyPr>
            <a:normAutofit fontScale="90000"/>
          </a:bodyPr>
          <a:lstStyle/>
          <a:p>
            <a:r>
              <a:rPr lang="en-US" sz="2400" dirty="0">
                <a:solidFill>
                  <a:schemeClr val="tx2"/>
                </a:solidFill>
                <a:latin typeface="Comic Sans MS" panose="030F0702030302020204" pitchFamily="66" charset="0"/>
              </a:rPr>
              <a:t>Example Table Structure: Customer Table</a:t>
            </a:r>
            <a:br>
              <a:rPr lang="en-US" sz="2400" dirty="0">
                <a:solidFill>
                  <a:schemeClr val="tx2"/>
                </a:solidFill>
                <a:latin typeface="Comic Sans MS" panose="030F0702030302020204" pitchFamily="66" charset="0"/>
              </a:rPr>
            </a:br>
            <a:r>
              <a:rPr lang="en-US" sz="2400" dirty="0">
                <a:solidFill>
                  <a:schemeClr val="tx2"/>
                </a:solidFill>
                <a:latin typeface="Comic Sans MS" panose="030F0702030302020204" pitchFamily="66" charset="0"/>
              </a:rPr>
              <a:t>Here is a practical example you can build in Design View or with SQL. Each field type is chosen to match the data and how you will use it.</a:t>
            </a:r>
            <a:br>
              <a:rPr lang="en-US" sz="2400" dirty="0">
                <a:solidFill>
                  <a:schemeClr val="tx2"/>
                </a:solidFill>
                <a:latin typeface="Comic Sans MS" panose="030F0702030302020204" pitchFamily="66" charset="0"/>
              </a:rPr>
            </a:br>
            <a:br>
              <a:rPr lang="en-US" sz="2400" dirty="0">
                <a:solidFill>
                  <a:schemeClr val="tx2"/>
                </a:solidFill>
                <a:latin typeface="Comic Sans MS" panose="030F0702030302020204" pitchFamily="66" charset="0"/>
              </a:rPr>
            </a:br>
            <a:r>
              <a:rPr lang="en-US" sz="2400" dirty="0">
                <a:solidFill>
                  <a:schemeClr val="tx2"/>
                </a:solidFill>
                <a:latin typeface="Comic Sans MS" panose="030F0702030302020204" pitchFamily="66" charset="0"/>
              </a:rPr>
              <a:t>-CustomerID | AutoNumber | Unique customer ID. AutoNumber gives a new number for each record; set this as the primary key.</a:t>
            </a:r>
            <a:br>
              <a:rPr lang="en-US" sz="2400" dirty="0">
                <a:solidFill>
                  <a:schemeClr val="tx2"/>
                </a:solidFill>
                <a:latin typeface="Comic Sans MS" panose="030F0702030302020204" pitchFamily="66" charset="0"/>
              </a:rPr>
            </a:br>
            <a:br>
              <a:rPr lang="en-US" sz="2400" dirty="0">
                <a:solidFill>
                  <a:schemeClr val="tx2"/>
                </a:solidFill>
                <a:latin typeface="Comic Sans MS" panose="030F0702030302020204" pitchFamily="66" charset="0"/>
              </a:rPr>
            </a:br>
            <a:r>
              <a:rPr lang="en-US" sz="2400" dirty="0">
                <a:solidFill>
                  <a:schemeClr val="tx2"/>
                </a:solidFill>
                <a:latin typeface="Comic Sans MS" panose="030F0702030302020204" pitchFamily="66" charset="0"/>
              </a:rPr>
              <a:t>-FirstName | Short Text | Customer first name. Use Short Text with Field Size 50 or 100.</a:t>
            </a:r>
            <a:br>
              <a:rPr lang="en-US" sz="2400" dirty="0">
                <a:solidFill>
                  <a:schemeClr val="tx2"/>
                </a:solidFill>
                <a:latin typeface="Comic Sans MS" panose="030F0702030302020204" pitchFamily="66" charset="0"/>
              </a:rPr>
            </a:br>
            <a:br>
              <a:rPr lang="en-US" sz="2400" dirty="0">
                <a:solidFill>
                  <a:schemeClr val="tx2"/>
                </a:solidFill>
                <a:latin typeface="Comic Sans MS" panose="030F0702030302020204" pitchFamily="66" charset="0"/>
              </a:rPr>
            </a:br>
            <a:r>
              <a:rPr lang="en-US" sz="2400" dirty="0">
                <a:solidFill>
                  <a:schemeClr val="tx2"/>
                </a:solidFill>
                <a:latin typeface="Comic Sans MS" panose="030F0702030302020204" pitchFamily="66" charset="0"/>
              </a:rPr>
              <a:t>-LastName | Short Text | Customer last name. Same as FirstName.</a:t>
            </a:r>
            <a:br>
              <a:rPr lang="en-US" sz="2400" dirty="0">
                <a:solidFill>
                  <a:schemeClr val="tx2"/>
                </a:solidFill>
                <a:latin typeface="Comic Sans MS" panose="030F0702030302020204" pitchFamily="66" charset="0"/>
              </a:rPr>
            </a:br>
            <a:r>
              <a:rPr lang="en-US" sz="2400" dirty="0">
                <a:solidFill>
                  <a:schemeClr val="tx2"/>
                </a:solidFill>
                <a:latin typeface="Comic Sans MS" panose="030F0702030302020204" pitchFamily="66" charset="0"/>
              </a:rPr>
              <a:t>-Email | Short Text | Contact email. Short Text, size 100 or 255.</a:t>
            </a:r>
            <a:br>
              <a:rPr lang="en-US" sz="2400" dirty="0">
                <a:solidFill>
                  <a:schemeClr val="tx2"/>
                </a:solidFill>
                <a:latin typeface="Comic Sans MS" panose="030F0702030302020204" pitchFamily="66" charset="0"/>
              </a:rPr>
            </a:br>
            <a:r>
              <a:rPr lang="en-US" sz="2400" dirty="0">
                <a:solidFill>
                  <a:schemeClr val="tx2"/>
                </a:solidFill>
                <a:latin typeface="Comic Sans MS" panose="030F0702030302020204" pitchFamily="66" charset="0"/>
              </a:rPr>
              <a:t>-</a:t>
            </a:r>
            <a:r>
              <a:rPr lang="en-US" sz="2400" dirty="0" err="1">
                <a:solidFill>
                  <a:schemeClr val="tx2"/>
                </a:solidFill>
                <a:latin typeface="Comic Sans MS" panose="030F0702030302020204" pitchFamily="66" charset="0"/>
              </a:rPr>
              <a:t>CreatedDate</a:t>
            </a:r>
            <a:r>
              <a:rPr lang="en-US" sz="2400" dirty="0">
                <a:solidFill>
                  <a:schemeClr val="tx2"/>
                </a:solidFill>
                <a:latin typeface="Comic Sans MS" panose="030F0702030302020204" pitchFamily="66" charset="0"/>
              </a:rPr>
              <a:t> | Date/Time | Account creation date. Use Date/Time; you can set Default Value to Now() so new records get the current date.</a:t>
            </a:r>
            <a:br>
              <a:rPr lang="en-US" sz="2400" dirty="0">
                <a:solidFill>
                  <a:schemeClr val="tx2"/>
                </a:solidFill>
                <a:latin typeface="Comic Sans MS" panose="030F0702030302020204" pitchFamily="66" charset="0"/>
              </a:rPr>
            </a:br>
            <a:endParaRPr lang="en-US" sz="2400" dirty="0">
              <a:solidFill>
                <a:schemeClr val="tx2"/>
              </a:solidFill>
              <a:latin typeface="Comic Sans MS" panose="030F0702030302020204" pitchFamily="66" charset="0"/>
            </a:endParaRPr>
          </a:p>
        </p:txBody>
      </p:sp>
    </p:spTree>
    <p:extLst>
      <p:ext uri="{BB962C8B-B14F-4D97-AF65-F5344CB8AC3E}">
        <p14:creationId xmlns:p14="http://schemas.microsoft.com/office/powerpoint/2010/main" val="18121350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Ion Boardroom</Template>
  <TotalTime>13</TotalTime>
  <Words>501</Words>
  <Application>Microsoft Office PowerPoint</Application>
  <PresentationFormat>Widescreen</PresentationFormat>
  <Paragraphs>12</Paragraphs>
  <Slides>3</Slides>
  <Notes>0</Notes>
  <HiddenSlides>0</HiddenSlides>
  <MMClips>1</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vt:i4>
      </vt:variant>
    </vt:vector>
  </HeadingPairs>
  <TitlesOfParts>
    <vt:vector size="10" baseType="lpstr">
      <vt:lpstr>Arial</vt:lpstr>
      <vt:lpstr>Calibri</vt:lpstr>
      <vt:lpstr>Century Gothic</vt:lpstr>
      <vt:lpstr>Comic Sans MS</vt:lpstr>
      <vt:lpstr>Gill Sans MT</vt:lpstr>
      <vt:lpstr>Wingdings 3</vt:lpstr>
      <vt:lpstr>Ion Boardroom</vt:lpstr>
      <vt:lpstr>MS Access</vt:lpstr>
      <vt:lpstr>PowerPoint Presentation</vt:lpstr>
      <vt:lpstr>Example Table Structure: Customer Table Here is a practical example you can build in Design View or with SQL. Each field type is chosen to match the data and how you will use it.  -CustomerID | AutoNumber | Unique customer ID. AutoNumber gives a new number for each record; set this as the primary key.  -FirstName | Short Text | Customer first name. Use Short Text with Field Size 50 or 100.  -LastName | Short Text | Customer last name. Same as FirstName. -Email | Short Text | Contact email. Short Text, size 100 or 255. -CreatedDate | Date/Time | Account creation date. Use Date/Time; you can set Default Value to Now() so new records get the current date.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SakWindows</dc:creator>
  <cp:lastModifiedBy>SakWindows</cp:lastModifiedBy>
  <cp:revision>2</cp:revision>
  <dcterms:created xsi:type="dcterms:W3CDTF">2026-10-21T07:52:26Z</dcterms:created>
  <dcterms:modified xsi:type="dcterms:W3CDTF">2026-10-21T08:05:37Z</dcterms:modified>
</cp:coreProperties>
</file>